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18"/>
  </p:handoutMasterIdLst>
  <p:sldIdLst>
    <p:sldId id="306" r:id="rId3"/>
    <p:sldId id="307" r:id="rId5"/>
    <p:sldId id="321" r:id="rId6"/>
    <p:sldId id="330" r:id="rId7"/>
    <p:sldId id="329" r:id="rId8"/>
    <p:sldId id="308" r:id="rId9"/>
    <p:sldId id="328" r:id="rId10"/>
    <p:sldId id="331" r:id="rId11"/>
    <p:sldId id="316" r:id="rId12"/>
    <p:sldId id="319" r:id="rId13"/>
    <p:sldId id="332" r:id="rId14"/>
    <p:sldId id="333" r:id="rId15"/>
    <p:sldId id="334" r:id="rId16"/>
    <p:sldId id="327" r:id="rId17"/>
  </p:sldIdLst>
  <p:sldSz cx="9144000" cy="5143500" type="screen16x9"/>
  <p:notesSz cx="6858000" cy="9144000"/>
  <p:embeddedFontLst>
    <p:embeddedFont>
      <p:font typeface="微软雅黑" panose="020B0503020204020204" pitchFamily="34" charset="-122"/>
      <p:regular r:id="rId22"/>
      <p:bold r:id="rId23"/>
    </p:embeddedFont>
    <p:embeddedFont>
      <p:font typeface="Calibri" panose="020F0502020204030204" charset="0"/>
      <p:regular r:id="rId24"/>
      <p:bold r:id="rId25"/>
      <p:italic r:id="rId26"/>
      <p:boldItalic r:id="rId27"/>
    </p:embeddedFont>
  </p:embeddedFontLst>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userDrawn="1">
          <p15:clr>
            <a:srgbClr val="A4A3A4"/>
          </p15:clr>
        </p15:guide>
        <p15:guide id="2" pos="2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E4C9AE"/>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1" d="100"/>
          <a:sy n="71" d="100"/>
        </p:scale>
        <p:origin x="498" y="42"/>
      </p:cViewPr>
      <p:guideLst>
        <p:guide orient="horz" pos="1619"/>
        <p:guide pos="2862"/>
      </p:guideLst>
    </p:cSldViewPr>
  </p:slideViewPr>
  <p:notesTextViewPr>
    <p:cViewPr>
      <p:scale>
        <a:sx n="100" d="100"/>
        <a:sy n="100" d="100"/>
      </p:scale>
      <p:origin x="0" y="0"/>
    </p:cViewPr>
  </p:notesTextViewPr>
  <p:sorterViewPr>
    <p:cViewPr varScale="1">
      <p:scale>
        <a:sx n="1" d="1"/>
        <a:sy n="1" d="1"/>
      </p:scale>
      <p:origin x="0" y="-1374"/>
    </p:cViewPr>
  </p:sorterViewPr>
  <p:notesViewPr>
    <p:cSldViewPr showGuides="1">
      <p:cViewPr varScale="1">
        <p:scale>
          <a:sx n="61" d="100"/>
          <a:sy n="61" d="100"/>
        </p:scale>
        <p:origin x="-3216" y="-72"/>
      </p:cViewPr>
      <p:guideLst>
        <p:guide orient="horz" pos="2879"/>
        <p:guide pos="2147"/>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1.xml"/><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92CDB1E-9234-4DE3-B1B0-A3145D9229B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AA8746-F1BF-4756-BE87-F7DCC251CE0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2"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80"/>
            <a:ext cx="2057400" cy="438864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80"/>
            <a:ext cx="6019800" cy="43886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3508" y="123478"/>
            <a:ext cx="8856984" cy="4896544"/>
          </a:xfrm>
          <a:prstGeom prst="rect">
            <a:avLst/>
          </a:prstGeom>
          <a:no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3" name="矩形 2"/>
          <p:cNvSpPr/>
          <p:nvPr/>
        </p:nvSpPr>
        <p:spPr>
          <a:xfrm>
            <a:off x="2560320" y="2594610"/>
            <a:ext cx="4041775" cy="69723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rPr>
              <a:t>多轮大语言模型智能体中</a:t>
            </a:r>
            <a:endParaRPr lang="zh-CN" altLang="en-US">
              <a:cs typeface="+mn-ea"/>
            </a:endParaRPr>
          </a:p>
          <a:p>
            <a:pPr algn="ctr"/>
            <a:r>
              <a:rPr lang="zh-CN" altLang="en-US">
                <a:cs typeface="+mn-ea"/>
              </a:rPr>
              <a:t>步骤-词元级优势的嵌套估计 </a:t>
            </a:r>
            <a:endParaRPr lang="zh-CN" altLang="en-US">
              <a:cs typeface="+mn-ea"/>
            </a:endParaRPr>
          </a:p>
        </p:txBody>
      </p:sp>
      <p:sp>
        <p:nvSpPr>
          <p:cNvPr id="5" name="文本框 4"/>
          <p:cNvSpPr txBox="1"/>
          <p:nvPr/>
        </p:nvSpPr>
        <p:spPr>
          <a:xfrm>
            <a:off x="3400902" y="3490290"/>
            <a:ext cx="2016224" cy="521970"/>
          </a:xfrm>
          <a:prstGeom prst="rect">
            <a:avLst/>
          </a:prstGeom>
          <a:noFill/>
        </p:spPr>
        <p:txBody>
          <a:bodyPr wrap="square" rtlCol="0">
            <a:spAutoFit/>
          </a:bodyPr>
          <a:lstStyle/>
          <a:p>
            <a:pPr algn="ctr"/>
            <a:r>
              <a:rPr lang="zh-CN" altLang="en-US" sz="1400" b="1" dirty="0">
                <a:cs typeface="+mn-ea"/>
              </a:rPr>
              <a:t>答辩人：詹咏庭</a:t>
            </a:r>
            <a:endParaRPr lang="zh-CN" altLang="en-US" sz="1400" b="1" dirty="0">
              <a:cs typeface="+mn-ea"/>
            </a:endParaRPr>
          </a:p>
          <a:p>
            <a:pPr algn="ctr"/>
            <a:r>
              <a:rPr lang="zh-CN" altLang="en-US" sz="1400" b="1" dirty="0">
                <a:cs typeface="+mn-ea"/>
              </a:rPr>
              <a:t>指导老师：梅杰</a:t>
            </a:r>
            <a:r>
              <a:rPr lang="zh-CN" altLang="en-US" sz="1400" b="1" dirty="0">
                <a:cs typeface="+mn-ea"/>
              </a:rPr>
              <a:t>老师</a:t>
            </a:r>
            <a:endParaRPr lang="zh-CN" altLang="en-US" sz="1400" b="1" dirty="0">
              <a:cs typeface="+mn-ea"/>
            </a:endParaRPr>
          </a:p>
        </p:txBody>
      </p:sp>
      <p:grpSp>
        <p:nvGrpSpPr>
          <p:cNvPr id="18" name="组合 17"/>
          <p:cNvGrpSpPr/>
          <p:nvPr/>
        </p:nvGrpSpPr>
        <p:grpSpPr>
          <a:xfrm>
            <a:off x="1108998" y="1203598"/>
            <a:ext cx="6824075" cy="3284102"/>
            <a:chOff x="1140358" y="577820"/>
            <a:chExt cx="6824075" cy="3359294"/>
          </a:xfrm>
        </p:grpSpPr>
        <p:sp>
          <p:nvSpPr>
            <p:cNvPr id="8" name="矩形 7"/>
            <p:cNvSpPr/>
            <p:nvPr/>
          </p:nvSpPr>
          <p:spPr>
            <a:xfrm>
              <a:off x="1835696" y="1019760"/>
              <a:ext cx="5472608" cy="265164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9" name="矩形 8"/>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11" name="矩形 10"/>
            <p:cNvSpPr/>
            <p:nvPr/>
          </p:nvSpPr>
          <p:spPr>
            <a:xfrm>
              <a:off x="1140358" y="2713999"/>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cxnSp>
          <p:nvCxnSpPr>
            <p:cNvPr id="13" name="直接连接符 12"/>
            <p:cNvCxnSpPr/>
            <p:nvPr/>
          </p:nvCxnSpPr>
          <p:spPr>
            <a:xfrm flipH="1">
              <a:off x="7015627" y="577820"/>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1435008" y="2975534"/>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2205176" y="1851502"/>
            <a:ext cx="4819518" cy="706755"/>
          </a:xfrm>
          <a:prstGeom prst="rect">
            <a:avLst/>
          </a:prstGeom>
          <a:noFill/>
        </p:spPr>
        <p:txBody>
          <a:bodyPr wrap="square" rtlCol="0">
            <a:spAutoFit/>
          </a:bodyPr>
          <a:lstStyle/>
          <a:p>
            <a:pPr algn="ctr"/>
            <a:r>
              <a:rPr lang="zh-CN" altLang="en-US" sz="4000" b="1" dirty="0">
                <a:latin typeface="+mn-ea"/>
                <a:cs typeface="+mn-ea"/>
              </a:rPr>
              <a:t>毕业设计开题</a:t>
            </a:r>
            <a:r>
              <a:rPr lang="zh-CN" altLang="en-US" sz="4000" b="1" dirty="0">
                <a:latin typeface="+mn-ea"/>
                <a:cs typeface="+mn-ea"/>
              </a:rPr>
              <a:t>答辩</a:t>
            </a:r>
            <a:endParaRPr lang="zh-CN" altLang="en-US" sz="4000" b="1" dirty="0">
              <a:latin typeface="+mn-ea"/>
              <a:cs typeface="+mn-ea"/>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735147" y="631978"/>
            <a:ext cx="3416141" cy="75914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3508" y="123478"/>
            <a:ext cx="8856984" cy="4896544"/>
          </a:xfrm>
          <a:prstGeom prst="rect">
            <a:avLst/>
          </a:prstGeom>
          <a:no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7" name="组合 6"/>
          <p:cNvGrpSpPr/>
          <p:nvPr/>
        </p:nvGrpSpPr>
        <p:grpSpPr>
          <a:xfrm>
            <a:off x="604102" y="1347614"/>
            <a:ext cx="1075775" cy="2149930"/>
            <a:chOff x="604102" y="1347614"/>
            <a:chExt cx="1075775" cy="2149930"/>
          </a:xfrm>
        </p:grpSpPr>
        <p:grpSp>
          <p:nvGrpSpPr>
            <p:cNvPr id="3" name="组合 2"/>
            <p:cNvGrpSpPr/>
            <p:nvPr/>
          </p:nvGrpSpPr>
          <p:grpSpPr>
            <a:xfrm>
              <a:off x="755576" y="1347614"/>
              <a:ext cx="806989" cy="2149930"/>
              <a:chOff x="1477543" y="637844"/>
              <a:chExt cx="6486890" cy="3157021"/>
            </a:xfrm>
          </p:grpSpPr>
          <p:sp>
            <p:nvSpPr>
              <p:cNvPr id="4" name="矩形 3"/>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5" name="矩形 4"/>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6" name="矩形 5"/>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sp>
          <p:nvSpPr>
            <p:cNvPr id="9" name="文本框 8"/>
            <p:cNvSpPr txBox="1"/>
            <p:nvPr/>
          </p:nvSpPr>
          <p:spPr>
            <a:xfrm>
              <a:off x="765847" y="1858649"/>
              <a:ext cx="738664" cy="1127860"/>
            </a:xfrm>
            <a:prstGeom prst="rect">
              <a:avLst/>
            </a:prstGeom>
            <a:noFill/>
          </p:spPr>
          <p:txBody>
            <a:bodyPr vert="eaVert" wrap="square" rtlCol="0">
              <a:spAutoFit/>
            </a:bodyPr>
            <a:lstStyle/>
            <a:p>
              <a:r>
                <a:rPr lang="zh-CN" altLang="en-US" sz="3600" b="1" dirty="0">
                  <a:cs typeface="+mn-ea"/>
                </a:rPr>
                <a:t>目录</a:t>
              </a:r>
              <a:endParaRPr lang="zh-CN" altLang="en-US" sz="3600" b="1" dirty="0">
                <a:cs typeface="+mn-ea"/>
              </a:endParaRPr>
            </a:p>
          </p:txBody>
        </p:sp>
        <p:cxnSp>
          <p:nvCxnSpPr>
            <p:cNvPr id="10" name="直接连接符 9"/>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3212859" y="1207896"/>
            <a:ext cx="3394810" cy="830997"/>
            <a:chOff x="3212859" y="1207896"/>
            <a:chExt cx="3394810" cy="830997"/>
          </a:xfrm>
        </p:grpSpPr>
        <p:sp>
          <p:nvSpPr>
            <p:cNvPr id="14" name="文本框 13"/>
            <p:cNvSpPr txBox="1"/>
            <p:nvPr/>
          </p:nvSpPr>
          <p:spPr>
            <a:xfrm>
              <a:off x="3212859" y="1207896"/>
              <a:ext cx="3394810" cy="830997"/>
            </a:xfrm>
            <a:prstGeom prst="rect">
              <a:avLst/>
            </a:prstGeom>
            <a:noFill/>
          </p:spPr>
          <p:txBody>
            <a:bodyPr vert="horz" wrap="square" rtlCol="0">
              <a:spAutoFit/>
            </a:bodyPr>
            <a:lstStyle/>
            <a:p>
              <a:r>
                <a:rPr lang="en-US" altLang="zh-CN" sz="1400" b="1" dirty="0">
                  <a:latin typeface="+mn-ea"/>
                  <a:cs typeface="+mn-ea"/>
                </a:rPr>
                <a:t>Part 01</a:t>
              </a:r>
              <a:endParaRPr lang="en-US" altLang="zh-CN" sz="1400" b="1" dirty="0">
                <a:latin typeface="+mn-ea"/>
                <a:cs typeface="+mn-ea"/>
              </a:endParaRPr>
            </a:p>
            <a:p>
              <a:r>
                <a:rPr lang="zh-CN" altLang="en-US" sz="2000" b="1" dirty="0">
                  <a:latin typeface="+mn-ea"/>
                  <a:cs typeface="+mn-ea"/>
                </a:rPr>
                <a:t>研究背景</a:t>
              </a:r>
              <a:endParaRPr lang="en-US" altLang="zh-CN" sz="2000" b="1" dirty="0">
                <a:latin typeface="+mn-ea"/>
                <a:cs typeface="+mn-ea"/>
              </a:endParaRPr>
            </a:p>
            <a:p>
              <a:r>
                <a:rPr lang="en-US" altLang="zh-CN" sz="1200" b="1" dirty="0">
                  <a:latin typeface="+mn-ea"/>
                  <a:cs typeface="+mn-ea"/>
                </a:rPr>
                <a:t>Subject background</a:t>
              </a:r>
              <a:endParaRPr lang="zh-CN" altLang="en-US" sz="1200" b="1" dirty="0">
                <a:latin typeface="+mn-ea"/>
                <a:cs typeface="+mn-ea"/>
              </a:endParaRPr>
            </a:p>
          </p:txBody>
        </p:sp>
        <p:cxnSp>
          <p:nvCxnSpPr>
            <p:cNvPr id="26" name="直接连接符 25"/>
            <p:cNvCxnSpPr>
              <a:endCxn id="14" idx="2"/>
            </p:cNvCxnSpPr>
            <p:nvPr/>
          </p:nvCxnSpPr>
          <p:spPr>
            <a:xfrm>
              <a:off x="3284867" y="2038893"/>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3212859" y="3097656"/>
            <a:ext cx="3394810" cy="830997"/>
            <a:chOff x="3212859" y="3097656"/>
            <a:chExt cx="3394810" cy="830997"/>
          </a:xfrm>
        </p:grpSpPr>
        <p:sp>
          <p:nvSpPr>
            <p:cNvPr id="17" name="文本框 16"/>
            <p:cNvSpPr txBox="1"/>
            <p:nvPr/>
          </p:nvSpPr>
          <p:spPr>
            <a:xfrm>
              <a:off x="3212859" y="3097656"/>
              <a:ext cx="3394810" cy="798830"/>
            </a:xfrm>
            <a:prstGeom prst="rect">
              <a:avLst/>
            </a:prstGeom>
            <a:noFill/>
          </p:spPr>
          <p:txBody>
            <a:bodyPr vert="horz" wrap="square" rtlCol="0">
              <a:spAutoFit/>
            </a:bodyPr>
            <a:lstStyle/>
            <a:p>
              <a:r>
                <a:rPr lang="en-US" altLang="zh-CN" sz="1400" b="1" dirty="0">
                  <a:latin typeface="+mn-ea"/>
                  <a:cs typeface="+mn-ea"/>
                </a:rPr>
                <a:t>Part 03</a:t>
              </a:r>
              <a:endParaRPr lang="en-US" altLang="zh-CN" sz="1400" b="1" dirty="0">
                <a:latin typeface="+mn-ea"/>
                <a:cs typeface="+mn-ea"/>
              </a:endParaRPr>
            </a:p>
            <a:p>
              <a:r>
                <a:rPr lang="zh-CN" altLang="en-US" sz="2000" b="1" dirty="0">
                  <a:latin typeface="+mn-ea"/>
                  <a:cs typeface="+mn-ea"/>
                </a:rPr>
                <a:t>研究方案</a:t>
              </a:r>
              <a:endParaRPr lang="en-US" altLang="zh-CN" sz="2000" b="1" dirty="0">
                <a:latin typeface="+mn-ea"/>
                <a:cs typeface="+mn-ea"/>
              </a:endParaRPr>
            </a:p>
            <a:p>
              <a:r>
                <a:rPr lang="en-US" altLang="zh-CN" sz="1200" b="1" dirty="0">
                  <a:latin typeface="+mn-ea"/>
                  <a:cs typeface="+mn-ea"/>
                </a:rPr>
                <a:t>Subject </a:t>
              </a:r>
              <a:r>
                <a:rPr lang="en-US" altLang="zh-CN" sz="1200" b="1" dirty="0">
                  <a:latin typeface="+mn-ea"/>
                  <a:cs typeface="+mn-ea"/>
                </a:rPr>
                <a:t>program</a:t>
              </a:r>
              <a:endParaRPr lang="en-US" altLang="zh-CN" sz="1200" b="1" dirty="0">
                <a:latin typeface="+mn-ea"/>
                <a:cs typeface="+mn-ea"/>
              </a:endParaRPr>
            </a:p>
          </p:txBody>
        </p:sp>
        <p:cxnSp>
          <p:nvCxnSpPr>
            <p:cNvPr id="28" name="直接连接符 27"/>
            <p:cNvCxnSpPr/>
            <p:nvPr/>
          </p:nvCxnSpPr>
          <p:spPr>
            <a:xfrm>
              <a:off x="3284867" y="3928653"/>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5978782" y="1207896"/>
            <a:ext cx="1833578" cy="839499"/>
            <a:chOff x="5978782" y="1207896"/>
            <a:chExt cx="1833578" cy="839499"/>
          </a:xfrm>
        </p:grpSpPr>
        <p:sp>
          <p:nvSpPr>
            <p:cNvPr id="20" name="文本框 19"/>
            <p:cNvSpPr txBox="1"/>
            <p:nvPr/>
          </p:nvSpPr>
          <p:spPr>
            <a:xfrm>
              <a:off x="5978782" y="1207896"/>
              <a:ext cx="1833578" cy="798830"/>
            </a:xfrm>
            <a:prstGeom prst="rect">
              <a:avLst/>
            </a:prstGeom>
            <a:noFill/>
          </p:spPr>
          <p:txBody>
            <a:bodyPr vert="horz" wrap="square" rtlCol="0">
              <a:spAutoFit/>
            </a:bodyPr>
            <a:lstStyle/>
            <a:p>
              <a:r>
                <a:rPr lang="en-US" altLang="zh-CN" sz="1400" b="1" dirty="0">
                  <a:latin typeface="+mn-ea"/>
                  <a:cs typeface="+mn-ea"/>
                </a:rPr>
                <a:t>Part 02</a:t>
              </a:r>
              <a:endParaRPr lang="en-US" altLang="zh-CN" sz="1400" b="1" dirty="0">
                <a:latin typeface="+mn-ea"/>
                <a:cs typeface="+mn-ea"/>
              </a:endParaRPr>
            </a:p>
            <a:p>
              <a:r>
                <a:rPr lang="zh-CN" altLang="en-US" sz="2000" b="1" dirty="0">
                  <a:latin typeface="+mn-ea"/>
                  <a:cs typeface="+mn-ea"/>
                </a:rPr>
                <a:t>调研工作</a:t>
              </a:r>
              <a:endParaRPr lang="en-US" altLang="zh-CN" sz="2000" b="1" dirty="0">
                <a:latin typeface="+mn-ea"/>
                <a:cs typeface="+mn-ea"/>
              </a:endParaRPr>
            </a:p>
            <a:p>
              <a:r>
                <a:rPr lang="en-US" altLang="zh-CN" sz="1200" b="1" dirty="0">
                  <a:latin typeface="+mn-ea"/>
                  <a:cs typeface="+mn-ea"/>
                </a:rPr>
                <a:t>Related work</a:t>
              </a:r>
              <a:endParaRPr lang="en-US" altLang="zh-CN" sz="1200" b="1" dirty="0">
                <a:latin typeface="+mn-ea"/>
                <a:cs typeface="+mn-ea"/>
              </a:endParaRPr>
            </a:p>
          </p:txBody>
        </p:sp>
        <p:cxnSp>
          <p:nvCxnSpPr>
            <p:cNvPr id="29" name="直接连接符 28"/>
            <p:cNvCxnSpPr/>
            <p:nvPr/>
          </p:nvCxnSpPr>
          <p:spPr>
            <a:xfrm>
              <a:off x="5978782" y="2047395"/>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5978782" y="3097656"/>
            <a:ext cx="1833578" cy="839499"/>
            <a:chOff x="5978782" y="3097656"/>
            <a:chExt cx="1833578" cy="839499"/>
          </a:xfrm>
        </p:grpSpPr>
        <p:sp>
          <p:nvSpPr>
            <p:cNvPr id="23" name="文本框 22"/>
            <p:cNvSpPr txBox="1"/>
            <p:nvPr/>
          </p:nvSpPr>
          <p:spPr>
            <a:xfrm>
              <a:off x="5978782" y="3097656"/>
              <a:ext cx="1833578" cy="798830"/>
            </a:xfrm>
            <a:prstGeom prst="rect">
              <a:avLst/>
            </a:prstGeom>
            <a:noFill/>
          </p:spPr>
          <p:txBody>
            <a:bodyPr vert="horz" wrap="square" rtlCol="0">
              <a:spAutoFit/>
            </a:bodyPr>
            <a:lstStyle/>
            <a:p>
              <a:r>
                <a:rPr lang="en-US" altLang="zh-CN" sz="1400" b="1" dirty="0">
                  <a:latin typeface="+mn-ea"/>
                  <a:cs typeface="+mn-ea"/>
                </a:rPr>
                <a:t>Part 04</a:t>
              </a:r>
              <a:endParaRPr lang="en-US" altLang="zh-CN" sz="1400" b="1" dirty="0">
                <a:latin typeface="+mn-ea"/>
                <a:cs typeface="+mn-ea"/>
              </a:endParaRPr>
            </a:p>
            <a:p>
              <a:r>
                <a:rPr lang="zh-CN" altLang="en-US" sz="2000" b="1" dirty="0">
                  <a:latin typeface="+mn-ea"/>
                  <a:cs typeface="+mn-ea"/>
                </a:rPr>
                <a:t>进度安排</a:t>
              </a:r>
              <a:endParaRPr lang="en-US" altLang="zh-CN" sz="2000" b="1" dirty="0">
                <a:latin typeface="+mn-ea"/>
                <a:cs typeface="+mn-ea"/>
              </a:endParaRPr>
            </a:p>
            <a:p>
              <a:r>
                <a:rPr lang="en-US" altLang="zh-CN" sz="1200" b="1" dirty="0">
                  <a:latin typeface="+mn-ea"/>
                  <a:cs typeface="+mn-ea"/>
                </a:rPr>
                <a:t>Future </a:t>
              </a:r>
              <a:r>
                <a:rPr lang="en-US" altLang="zh-CN" sz="1200" b="1" dirty="0">
                  <a:latin typeface="+mn-ea"/>
                  <a:cs typeface="+mn-ea"/>
                </a:rPr>
                <a:t>arrangement</a:t>
              </a:r>
              <a:endParaRPr lang="en-US" altLang="zh-CN" sz="1200" b="1" dirty="0">
                <a:latin typeface="+mn-ea"/>
                <a:cs typeface="+mn-ea"/>
              </a:endParaRPr>
            </a:p>
          </p:txBody>
        </p:sp>
        <p:cxnSp>
          <p:nvCxnSpPr>
            <p:cNvPr id="30" name="直接连接符 29"/>
            <p:cNvCxnSpPr/>
            <p:nvPr/>
          </p:nvCxnSpPr>
          <p:spPr>
            <a:xfrm>
              <a:off x="5978782" y="3937155"/>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背景</a:t>
              </a:r>
              <a:endParaRPr lang="zh-CN" altLang="en-US" sz="1600" b="1" dirty="0">
                <a:cs typeface="+mn-ea"/>
              </a:endParaRPr>
            </a:p>
          </p:txBody>
        </p:sp>
      </p:grpSp>
      <p:sp>
        <p:nvSpPr>
          <p:cNvPr id="53" name="Making money is art…"/>
          <p:cNvSpPr txBox="1"/>
          <p:nvPr/>
        </p:nvSpPr>
        <p:spPr>
          <a:xfrm>
            <a:off x="495300" y="771525"/>
            <a:ext cx="7773035" cy="201930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大语言模型的后训练是一个</a:t>
            </a:r>
            <a:r>
              <a:rPr lang="zh-CN" altLang="en-US" sz="1750" kern="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mn-ea"/>
                <a:sym typeface="宋体" panose="02010600030101010101" pitchFamily="2" charset="-122"/>
              </a:rPr>
              <a:t>针对预训练的模型进行微调以使其更贴近某个任务要求</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的流程。近年来逐步从监督微调（</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SFT）</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拓展到</a:t>
            </a:r>
            <a:r>
              <a:rPr lang="zh-CN" altLang="en-US" sz="1750" kern="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mn-ea"/>
                <a:sym typeface="宋体" panose="02010600030101010101" pitchFamily="2" charset="-122"/>
              </a:rPr>
              <a:t>强化学习（</a:t>
            </a:r>
            <a:r>
              <a:rPr lang="en-US" altLang="zh-CN" sz="1750" kern="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mn-ea"/>
                <a:sym typeface="宋体" panose="02010600030101010101" pitchFamily="2" charset="-122"/>
              </a:rPr>
              <a:t>RL）</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训练目标也从模仿示范转向基于奖励优化任务表现。</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但对比传统的</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RL agent</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LLM agent rollout</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生成的分支更多、语义更复杂，导致对策略的优化和对价值的估计都更加困难。</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pic>
        <p:nvPicPr>
          <p:cNvPr id="63" name="图片 6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pic>
        <p:nvPicPr>
          <p:cNvPr id="70" name="图片 69"/>
          <p:cNvPicPr>
            <a:picLocks noChangeAspect="1"/>
          </p:cNvPicPr>
          <p:nvPr/>
        </p:nvPicPr>
        <p:blipFill>
          <a:blip r:embed="rId2"/>
          <a:stretch>
            <a:fillRect/>
          </a:stretch>
        </p:blipFill>
        <p:spPr>
          <a:xfrm>
            <a:off x="467360" y="2931795"/>
            <a:ext cx="7522210" cy="20186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背景</a:t>
              </a:r>
              <a:endParaRPr lang="zh-CN" altLang="en-US" sz="1600" b="1" dirty="0">
                <a:cs typeface="+mn-ea"/>
              </a:endParaRPr>
            </a:p>
          </p:txBody>
        </p:sp>
      </p:grpSp>
      <p:sp>
        <p:nvSpPr>
          <p:cNvPr id="53" name="Making money is art…"/>
          <p:cNvSpPr txBox="1"/>
          <p:nvPr/>
        </p:nvSpPr>
        <p:spPr>
          <a:xfrm>
            <a:off x="495300" y="771525"/>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问题简述：</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LLM RL</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策略梯度公式</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pic>
        <p:nvPicPr>
          <p:cNvPr id="63" name="图片 6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pic>
        <p:nvPicPr>
          <p:cNvPr id="11" name="图片 10"/>
          <p:cNvPicPr>
            <a:picLocks noChangeAspect="1"/>
          </p:cNvPicPr>
          <p:nvPr/>
        </p:nvPicPr>
        <p:blipFill>
          <a:blip r:embed="rId2"/>
          <a:stretch>
            <a:fillRect/>
          </a:stretch>
        </p:blipFill>
        <p:spPr>
          <a:xfrm>
            <a:off x="1403985" y="1465580"/>
            <a:ext cx="5748020" cy="1172210"/>
          </a:xfrm>
          <a:prstGeom prst="rect">
            <a:avLst/>
          </a:prstGeom>
        </p:spPr>
      </p:pic>
      <mc:AlternateContent xmlns:mc="http://schemas.openxmlformats.org/markup-compatibility/2006">
        <mc:Choice xmlns:a14="http://schemas.microsoft.com/office/drawing/2010/main" Requires="a14">
          <p:sp>
            <p:nvSpPr>
              <p:cNvPr id="12" name="Making money is art…"/>
              <p:cNvSpPr txBox="1"/>
              <p:nvPr/>
            </p:nvSpPr>
            <p:spPr>
              <a:xfrm>
                <a:off x="611505" y="3004185"/>
                <a:ext cx="7773035" cy="121158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策略梯度算法通过上述梯度来优化生成策略</a:t>
                </a:r>
                <a14:m>
                  <m:oMath xmlns:m="http://schemas.openxmlformats.org/officeDocument/2006/math">
                    <m:r>
                      <m:rPr>
                        <m:sty m:val="p"/>
                      </m:rPr>
                      <a:rPr lang="en-US" altLang="zh-CN" sz="1750" kern="0" dirty="0">
                        <a:latin typeface="Cambria Math" panose="02040503050406030204" charset="0"/>
                        <a:ea typeface="宋体" panose="02010600030101010101" pitchFamily="2" charset="-122"/>
                        <a:cs typeface="Cambria Math" panose="02040503050406030204" charset="0"/>
                        <a:sym typeface="宋体" panose="02010600030101010101" pitchFamily="2" charset="-122"/>
                      </a:rPr>
                      <m:t>π</m:t>
                    </m:r>
                  </m:oMath>
                </a14:m>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，实现最终累积奖励的最大化</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但由于奖励稀疏和语义复杂，优势</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At</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的估计很困难，本工作以及所提到的相关工作都聚焦于如何更好地设计这里的</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At</a:t>
                </a:r>
                <a:endParaRPr lang="en-US" altLang="zh-CN" sz="1750" kern="0" dirty="0">
                  <a:latin typeface="宋体" panose="02010600030101010101" pitchFamily="2" charset="-122"/>
                  <a:ea typeface="宋体" panose="02010600030101010101" pitchFamily="2" charset="-122"/>
                  <a:cs typeface="+mn-ea"/>
                  <a:sym typeface="宋体" panose="02010600030101010101" pitchFamily="2" charset="-122"/>
                </a:endParaRPr>
              </a:p>
            </p:txBody>
          </p:sp>
        </mc:Choice>
        <mc:Fallback>
          <p:sp>
            <p:nvSpPr>
              <p:cNvPr id="12" name="Making money is art…"/>
              <p:cNvSpPr txBox="1">
                <a:spLocks noRot="1" noChangeAspect="1" noMove="1" noResize="1" noEditPoints="1" noAdjustHandles="1" noChangeArrowheads="1" noChangeShapeType="1" noTextEdit="1"/>
              </p:cNvSpPr>
              <p:nvPr/>
            </p:nvSpPr>
            <p:spPr>
              <a:xfrm>
                <a:off x="611505" y="3004185"/>
                <a:ext cx="7773035" cy="1211580"/>
              </a:xfrm>
              <a:prstGeom prst="rect">
                <a:avLst/>
              </a:prstGeom>
              <a:blipFill rotWithShape="1">
                <a:blip r:embed="rId3"/>
                <a:stretch>
                  <a:fillRect/>
                </a:stretch>
              </a:blipFill>
              <a:ln w="12700">
                <a:miter lim="400000"/>
              </a:ln>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背景</a:t>
              </a:r>
              <a:endParaRPr lang="zh-CN" altLang="en-US" sz="1600" b="1" dirty="0">
                <a:cs typeface="+mn-ea"/>
              </a:endParaRPr>
            </a:p>
          </p:txBody>
        </p:sp>
      </p:grpSp>
      <p:sp>
        <p:nvSpPr>
          <p:cNvPr id="53" name="Making money is art…"/>
          <p:cNvSpPr txBox="1"/>
          <p:nvPr/>
        </p:nvSpPr>
        <p:spPr>
          <a:xfrm>
            <a:off x="395605" y="3580130"/>
            <a:ext cx="7773035" cy="121158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随着应用从单轮问答扩展到</a:t>
            </a:r>
            <a:r>
              <a:rPr lang="zh-CN" altLang="en-US" sz="1750" b="1" kern="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mn-ea"/>
                <a:sym typeface="宋体" panose="02010600030101010101" pitchFamily="2" charset="-122"/>
              </a:rPr>
              <a:t>多轮 </a:t>
            </a:r>
            <a:r>
              <a:rPr lang="en-US" altLang="zh-CN" sz="1750" b="1" kern="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mn-ea"/>
                <a:sym typeface="宋体" panose="02010600030101010101" pitchFamily="2" charset="-122"/>
              </a:rPr>
              <a:t>Agent </a:t>
            </a:r>
            <a:r>
              <a:rPr lang="zh-CN" altLang="en-US" sz="1750" b="1" kern="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mn-ea"/>
                <a:sym typeface="宋体" panose="02010600030101010101" pitchFamily="2" charset="-122"/>
              </a:rPr>
              <a:t>交互</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，此时奖励稀疏和信用分配的难题更为突出，急需设计信用分配算法使模型在交互过程中获取更细粒度的梯度信息，</a:t>
            </a:r>
            <a:r>
              <a:rPr lang="en-US" altLang="zh-CN" sz="1750" b="1" kern="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mn-ea"/>
                <a:sym typeface="宋体" panose="02010600030101010101" pitchFamily="2" charset="-122"/>
              </a:rPr>
              <a:t>RLVR</a:t>
            </a:r>
            <a:r>
              <a:rPr lang="zh-CN" altLang="en-US" sz="1750" b="1" kern="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mn-ea"/>
                <a:sym typeface="宋体" panose="02010600030101010101" pitchFamily="2" charset="-122"/>
              </a:rPr>
              <a:t>算法</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应运而生。</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pic>
        <p:nvPicPr>
          <p:cNvPr id="63" name="图片 6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pic>
        <p:nvPicPr>
          <p:cNvPr id="64" name="图片 63"/>
          <p:cNvPicPr>
            <a:picLocks noChangeAspect="1"/>
          </p:cNvPicPr>
          <p:nvPr/>
        </p:nvPicPr>
        <p:blipFill>
          <a:blip r:embed="rId2"/>
          <a:stretch>
            <a:fillRect/>
          </a:stretch>
        </p:blipFill>
        <p:spPr>
          <a:xfrm>
            <a:off x="755650" y="1564005"/>
            <a:ext cx="6351905" cy="1619885"/>
          </a:xfrm>
          <a:prstGeom prst="rect">
            <a:avLst/>
          </a:prstGeom>
        </p:spPr>
      </p:pic>
      <p:sp>
        <p:nvSpPr>
          <p:cNvPr id="11" name="Making money is art…"/>
          <p:cNvSpPr txBox="1"/>
          <p:nvPr/>
        </p:nvSpPr>
        <p:spPr>
          <a:xfrm>
            <a:off x="495300" y="843915"/>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GRPO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通过群组优势比较，取缔了价值网络，但信用分配仍是粗粒度的轨迹级。</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相关工作</a:t>
              </a:r>
              <a:r>
                <a:rPr lang="zh-CN" altLang="en-US" sz="1600" b="1" dirty="0">
                  <a:cs typeface="+mn-ea"/>
                </a:rPr>
                <a:t>调研</a:t>
              </a:r>
              <a:endParaRPr lang="zh-CN" altLang="en-US" sz="1600" b="1" dirty="0">
                <a:cs typeface="+mn-ea"/>
              </a:endParaRPr>
            </a:p>
          </p:txBody>
        </p:sp>
      </p:grpSp>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12" name="Making money is art…"/>
          <p:cNvSpPr txBox="1"/>
          <p:nvPr/>
        </p:nvSpPr>
        <p:spPr>
          <a:xfrm>
            <a:off x="495300" y="771525"/>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轨迹级优势估计：</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GRPO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DAPO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QAE</a:t>
            </a:r>
            <a:endParaRPr lang="en-US" altLang="zh-CN"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sp>
        <p:nvSpPr>
          <p:cNvPr id="13" name="Making money is art…"/>
          <p:cNvSpPr txBox="1"/>
          <p:nvPr/>
        </p:nvSpPr>
        <p:spPr>
          <a:xfrm>
            <a:off x="495300" y="1203960"/>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步骤级优势估计：</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GiGPO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ARPO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iStar</a:t>
            </a:r>
            <a:endParaRPr lang="en-US" altLang="zh-CN"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pic>
        <p:nvPicPr>
          <p:cNvPr id="14" name="图片 13"/>
          <p:cNvPicPr>
            <a:picLocks noChangeAspect="1"/>
          </p:cNvPicPr>
          <p:nvPr/>
        </p:nvPicPr>
        <p:blipFill>
          <a:blip r:embed="rId2"/>
          <a:stretch>
            <a:fillRect/>
          </a:stretch>
        </p:blipFill>
        <p:spPr>
          <a:xfrm>
            <a:off x="251460" y="1879600"/>
            <a:ext cx="3632200" cy="2306320"/>
          </a:xfrm>
          <a:prstGeom prst="rect">
            <a:avLst/>
          </a:prstGeom>
        </p:spPr>
      </p:pic>
      <p:pic>
        <p:nvPicPr>
          <p:cNvPr id="41" name="图片 40"/>
          <p:cNvPicPr>
            <a:picLocks noChangeAspect="1"/>
          </p:cNvPicPr>
          <p:nvPr/>
        </p:nvPicPr>
        <p:blipFill>
          <a:blip r:embed="rId3"/>
          <a:stretch>
            <a:fillRect/>
          </a:stretch>
        </p:blipFill>
        <p:spPr>
          <a:xfrm>
            <a:off x="4046855" y="1879600"/>
            <a:ext cx="5097145" cy="2334260"/>
          </a:xfrm>
          <a:prstGeom prst="rect">
            <a:avLst/>
          </a:prstGeom>
        </p:spPr>
      </p:pic>
      <p:sp>
        <p:nvSpPr>
          <p:cNvPr id="42" name="Making money is art…"/>
          <p:cNvSpPr txBox="1"/>
          <p:nvPr/>
        </p:nvSpPr>
        <p:spPr>
          <a:xfrm>
            <a:off x="323850" y="4213860"/>
            <a:ext cx="3322320" cy="80772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GiGPO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流程图：对相同状态下做出不同动作的步骤统计优势</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sp>
        <p:nvSpPr>
          <p:cNvPr id="43" name="Making money is art…"/>
          <p:cNvSpPr txBox="1"/>
          <p:nvPr/>
        </p:nvSpPr>
        <p:spPr>
          <a:xfrm>
            <a:off x="4284345" y="4227830"/>
            <a:ext cx="3594100" cy="80772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iStar</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流程图：用</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DPO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单独训练了一个过程奖励模型，为步骤打分</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anim calcmode="lin" valueType="num">
                                      <p:cBhvr additive="base">
                                        <p:cTn id="25" dur="500" fill="hold"/>
                                        <p:tgtEl>
                                          <p:spTgt spid="43"/>
                                        </p:tgtEl>
                                        <p:attrNameLst>
                                          <p:attrName>ppt_x</p:attrName>
                                        </p:attrNameLst>
                                      </p:cBhvr>
                                      <p:tavLst>
                                        <p:tav tm="0">
                                          <p:val>
                                            <p:strVal val="#ppt_x"/>
                                          </p:val>
                                        </p:tav>
                                        <p:tav tm="100000">
                                          <p:val>
                                            <p:strVal val="#ppt_x"/>
                                          </p:val>
                                        </p:tav>
                                      </p:tavLst>
                                    </p:anim>
                                    <p:anim calcmode="lin" valueType="num">
                                      <p:cBhvr additive="base">
                                        <p:cTn id="2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42" grpId="0" animBg="1"/>
      <p:bldP spid="4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相关工作</a:t>
              </a:r>
              <a:r>
                <a:rPr lang="zh-CN" altLang="en-US" sz="1600" b="1" dirty="0">
                  <a:cs typeface="+mn-ea"/>
                </a:rPr>
                <a:t>调研</a:t>
              </a:r>
              <a:endParaRPr lang="zh-CN" altLang="en-US" sz="1600" b="1" dirty="0">
                <a:cs typeface="+mn-ea"/>
              </a:endParaRPr>
            </a:p>
          </p:txBody>
        </p:sp>
      </p:grpSp>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pic>
        <p:nvPicPr>
          <p:cNvPr id="16" name="图片 15"/>
          <p:cNvPicPr>
            <a:picLocks noChangeAspect="1"/>
          </p:cNvPicPr>
          <p:nvPr/>
        </p:nvPicPr>
        <p:blipFill>
          <a:blip r:embed="rId2"/>
          <a:stretch>
            <a:fillRect/>
          </a:stretch>
        </p:blipFill>
        <p:spPr>
          <a:xfrm>
            <a:off x="251460" y="1059815"/>
            <a:ext cx="4121150" cy="3374390"/>
          </a:xfrm>
          <a:prstGeom prst="rect">
            <a:avLst/>
          </a:prstGeom>
        </p:spPr>
      </p:pic>
      <p:sp>
        <p:nvSpPr>
          <p:cNvPr id="13" name="Making money is art…"/>
          <p:cNvSpPr txBox="1"/>
          <p:nvPr/>
        </p:nvSpPr>
        <p:spPr>
          <a:xfrm>
            <a:off x="323850" y="4434205"/>
            <a:ext cx="4549140"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HEPO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：选取高熵的分叉</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token</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进行优化</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pic>
        <p:nvPicPr>
          <p:cNvPr id="11" name="图片 10"/>
          <p:cNvPicPr>
            <a:picLocks noChangeAspect="1"/>
          </p:cNvPicPr>
          <p:nvPr/>
        </p:nvPicPr>
        <p:blipFill>
          <a:blip r:embed="rId3"/>
          <a:stretch>
            <a:fillRect/>
          </a:stretch>
        </p:blipFill>
        <p:spPr>
          <a:xfrm>
            <a:off x="4562475" y="1275715"/>
            <a:ext cx="4477385" cy="1574800"/>
          </a:xfrm>
          <a:prstGeom prst="rect">
            <a:avLst/>
          </a:prstGeom>
        </p:spPr>
      </p:pic>
      <p:sp>
        <p:nvSpPr>
          <p:cNvPr id="12" name="Making money is art…"/>
          <p:cNvSpPr txBox="1"/>
          <p:nvPr/>
        </p:nvSpPr>
        <p:spPr>
          <a:xfrm>
            <a:off x="522605" y="656590"/>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词元级优势估计：</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HEPO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TAPO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TEMPO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TPPO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RSI-S</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POAD</a:t>
            </a:r>
            <a:endParaRPr lang="en-US" altLang="zh-CN"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sp>
        <p:nvSpPr>
          <p:cNvPr id="14" name="Making money is art…"/>
          <p:cNvSpPr txBox="1"/>
          <p:nvPr/>
        </p:nvSpPr>
        <p:spPr>
          <a:xfrm>
            <a:off x="4716145" y="3036570"/>
            <a:ext cx="4003040" cy="121158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TEMPO</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：在同一个前缀树上统计不同</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token</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下后续拿到的奖励情况，得到</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token</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级别的优势估计</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相关工作</a:t>
              </a:r>
              <a:r>
                <a:rPr lang="zh-CN" altLang="en-US" sz="1600" b="1" dirty="0">
                  <a:cs typeface="+mn-ea"/>
                </a:rPr>
                <a:t>调研</a:t>
              </a:r>
              <a:endParaRPr lang="zh-CN" altLang="en-US" sz="1600" b="1" dirty="0">
                <a:cs typeface="+mn-ea"/>
              </a:endParaRPr>
            </a:p>
          </p:txBody>
        </p:sp>
      </p:grpSp>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13" name="Making money is art…"/>
          <p:cNvSpPr txBox="1"/>
          <p:nvPr/>
        </p:nvSpPr>
        <p:spPr>
          <a:xfrm>
            <a:off x="212725" y="3220085"/>
            <a:ext cx="4015740" cy="121158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ArCHer</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主图：</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步骤级优势</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词元</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REINFORCE</a:t>
            </a:r>
            <a:endParaRPr lang="en-US" altLang="zh-CN" sz="1750" kern="0" dirty="0">
              <a:latin typeface="宋体" panose="02010600030101010101" pitchFamily="2" charset="-122"/>
              <a:ea typeface="宋体" panose="02010600030101010101" pitchFamily="2" charset="-122"/>
              <a:cs typeface="+mn-ea"/>
              <a:sym typeface="宋体" panose="02010600030101010101" pitchFamily="2" charset="-122"/>
            </a:endParaRPr>
          </a:p>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需要多个额外的价值网络</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sp>
        <p:nvSpPr>
          <p:cNvPr id="12" name="Making money is art…"/>
          <p:cNvSpPr txBox="1"/>
          <p:nvPr/>
        </p:nvSpPr>
        <p:spPr>
          <a:xfrm>
            <a:off x="522605" y="656590"/>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分层优势估计：</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CREST</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ArCHer</a:t>
            </a:r>
            <a:endParaRPr lang="en-US" altLang="zh-CN"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sp>
        <p:nvSpPr>
          <p:cNvPr id="14" name="Making money is art…"/>
          <p:cNvSpPr txBox="1"/>
          <p:nvPr/>
        </p:nvSpPr>
        <p:spPr>
          <a:xfrm>
            <a:off x="4427855" y="843915"/>
            <a:ext cx="4003040" cy="2827655"/>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可以注意到，目前尚且没有一个真正意义上的嵌套步骤</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词元级别的优势估计方案，更没有一种方法着眼于两个层级的各自的作用和相互间的关系。</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因此本工作希望给出一个轻量的步骤</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词元嵌套优势估计方案</a:t>
            </a:r>
            <a:r>
              <a:rPr lang="en-US" altLang="zh-CN" sz="1750" kern="0" dirty="0">
                <a:latin typeface="宋体" panose="02010600030101010101" pitchFamily="2" charset="-122"/>
                <a:ea typeface="宋体" panose="02010600030101010101" pitchFamily="2" charset="-122"/>
                <a:cs typeface="+mn-ea"/>
                <a:sym typeface="宋体" panose="02010600030101010101" pitchFamily="2" charset="-122"/>
              </a:rPr>
              <a:t>NEST</a:t>
            </a:r>
            <a:r>
              <a:rPr lang="zh-CN" altLang="en-US" sz="1750" kern="0" dirty="0">
                <a:latin typeface="宋体" panose="02010600030101010101" pitchFamily="2" charset="-122"/>
                <a:ea typeface="宋体" panose="02010600030101010101" pitchFamily="2" charset="-122"/>
                <a:cs typeface="+mn-ea"/>
                <a:sym typeface="宋体" panose="02010600030101010101" pitchFamily="2" charset="-122"/>
              </a:rPr>
              <a:t>，并研究不同粒度为整体带来的提升。</a:t>
            </a:r>
            <a:endParaRPr lang="zh-CN" altLang="en-US" sz="1750" kern="0" dirty="0">
              <a:latin typeface="宋体" panose="02010600030101010101" pitchFamily="2" charset="-122"/>
              <a:ea typeface="宋体" panose="02010600030101010101" pitchFamily="2" charset="-122"/>
              <a:cs typeface="+mn-ea"/>
              <a:sym typeface="宋体" panose="02010600030101010101" pitchFamily="2" charset="-122"/>
            </a:endParaRPr>
          </a:p>
        </p:txBody>
      </p:sp>
      <p:pic>
        <p:nvPicPr>
          <p:cNvPr id="15" name="图片 14"/>
          <p:cNvPicPr>
            <a:picLocks noChangeAspect="1"/>
          </p:cNvPicPr>
          <p:nvPr/>
        </p:nvPicPr>
        <p:blipFill>
          <a:blip r:embed="rId2"/>
          <a:stretch>
            <a:fillRect/>
          </a:stretch>
        </p:blipFill>
        <p:spPr>
          <a:xfrm>
            <a:off x="323850" y="1275715"/>
            <a:ext cx="3596005" cy="1781810"/>
          </a:xfrm>
          <a:prstGeom prst="rect">
            <a:avLst/>
          </a:prstGeom>
        </p:spPr>
      </p:pic>
      <p:pic>
        <p:nvPicPr>
          <p:cNvPr id="18" name="图片 17"/>
          <p:cNvPicPr>
            <a:picLocks noChangeAspect="1"/>
          </p:cNvPicPr>
          <p:nvPr/>
        </p:nvPicPr>
        <p:blipFill>
          <a:blip r:embed="rId3"/>
          <a:stretch>
            <a:fillRect/>
          </a:stretch>
        </p:blipFill>
        <p:spPr>
          <a:xfrm>
            <a:off x="4427855" y="526415"/>
            <a:ext cx="4064635" cy="4092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方案</a:t>
              </a:r>
              <a:endParaRPr lang="zh-CN" altLang="en-US" sz="1600" b="1" dirty="0">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16" name="文本框 15"/>
          <p:cNvSpPr txBox="1"/>
          <p:nvPr/>
        </p:nvSpPr>
        <p:spPr>
          <a:xfrm>
            <a:off x="539750" y="843915"/>
            <a:ext cx="7423785" cy="1076325"/>
          </a:xfrm>
          <a:prstGeom prst="rect">
            <a:avLst/>
          </a:prstGeom>
        </p:spPr>
        <p:txBody>
          <a:bodyPr wrap="square">
            <a:spAutoFit/>
          </a:bodyPr>
          <a:p>
            <a:pPr defTabSz="266700"/>
            <a:r>
              <a:rPr lang="zh-CN" altLang="en-US" sz="1600" b="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复现经典算法</a:t>
            </a:r>
            <a:r>
              <a:rPr lang="zh-CN" altLang="en-US" sz="1600">
                <a:latin typeface="宋体" panose="02010600030101010101" pitchFamily="2" charset="-122"/>
                <a:ea typeface="宋体" panose="02010600030101010101" pitchFamily="2" charset="-122"/>
              </a:rPr>
              <a:t>：采用</a:t>
            </a:r>
            <a:r>
              <a:rPr lang="en-US" altLang="zh-CN" sz="1600">
                <a:latin typeface="Times New Roman" panose="02020603050405020304"/>
                <a:ea typeface="Times New Roman" panose="02020603050405020304"/>
              </a:rPr>
              <a:t>VeRL</a:t>
            </a:r>
            <a:r>
              <a:rPr lang="zh-CN" altLang="en-US" sz="1600">
                <a:latin typeface="宋体" panose="02010600030101010101" pitchFamily="2" charset="-122"/>
                <a:ea typeface="宋体" panose="02010600030101010101" pitchFamily="2" charset="-122"/>
              </a:rPr>
              <a:t>框架实现，采用</a:t>
            </a:r>
            <a:r>
              <a:rPr lang="en-US" altLang="zh-CN" sz="1600">
                <a:latin typeface="Times New Roman" panose="02020603050405020304"/>
                <a:ea typeface="Times New Roman" panose="02020603050405020304"/>
              </a:rPr>
              <a:t>Llama/Qwen3</a:t>
            </a:r>
            <a:r>
              <a:rPr lang="zh-CN" altLang="en-US" sz="1600">
                <a:latin typeface="宋体" panose="02010600030101010101" pitchFamily="2" charset="-122"/>
                <a:ea typeface="宋体" panose="02010600030101010101" pitchFamily="2" charset="-122"/>
              </a:rPr>
              <a:t>系列</a:t>
            </a:r>
            <a:r>
              <a:rPr lang="en-US" altLang="zh-CN" sz="1600">
                <a:latin typeface="Times New Roman" panose="02020603050405020304"/>
                <a:ea typeface="Times New Roman" panose="02020603050405020304"/>
              </a:rPr>
              <a:t>0.6B~8B</a:t>
            </a:r>
            <a:r>
              <a:rPr lang="zh-CN" altLang="en-US" sz="1600">
                <a:latin typeface="宋体" panose="02010600030101010101" pitchFamily="2" charset="-122"/>
                <a:ea typeface="宋体" panose="02010600030101010101" pitchFamily="2" charset="-122"/>
              </a:rPr>
              <a:t>的预训练模型，复现</a:t>
            </a:r>
            <a:r>
              <a:rPr lang="en-US" altLang="zh-CN" sz="1600">
                <a:latin typeface="宋体" panose="02010600030101010101" pitchFamily="2" charset="-122"/>
                <a:ea typeface="宋体" panose="02010600030101010101" pitchFamily="2" charset="-122"/>
              </a:rPr>
              <a:t>GiGPO</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ARPO</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TEMPO</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TAPO</a:t>
            </a:r>
            <a:r>
              <a:rPr lang="zh-CN" altLang="en-US" sz="1600">
                <a:latin typeface="宋体" panose="02010600030101010101" pitchFamily="2" charset="-122"/>
                <a:ea typeface="宋体" panose="02010600030101010101" pitchFamily="2" charset="-122"/>
              </a:rPr>
              <a:t>等算法，择优进行后续步骤研究。</a:t>
            </a:r>
            <a:endParaRPr lang="zh-CN" altLang="en-US" sz="1600">
              <a:latin typeface="宋体" panose="02010600030101010101" pitchFamily="2" charset="-122"/>
              <a:ea typeface="宋体" panose="02010600030101010101" pitchFamily="2" charset="-122"/>
            </a:endParaRPr>
          </a:p>
          <a:p>
            <a:pPr defTabSz="266700"/>
            <a:endParaRPr lang="zh-CN" altLang="en-US" sz="1600">
              <a:latin typeface="宋体" panose="02010600030101010101" pitchFamily="2" charset="-122"/>
              <a:ea typeface="宋体" panose="02010600030101010101" pitchFamily="2" charset="-122"/>
            </a:endParaRPr>
          </a:p>
          <a:p>
            <a:pPr defTabSz="266700"/>
            <a:r>
              <a:rPr lang="zh-CN" altLang="en-US" sz="1600" b="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调和方式对比</a:t>
            </a:r>
            <a:r>
              <a:rPr lang="zh-CN" altLang="en-US" sz="1600">
                <a:latin typeface="宋体" panose="02010600030101010101" pitchFamily="2" charset="-122"/>
                <a:ea typeface="宋体" panose="02010600030101010101" pitchFamily="2" charset="-122"/>
              </a:rPr>
              <a:t>：对比以下三种调和方式</a:t>
            </a:r>
            <a:endParaRPr lang="en-US" altLang="zh-CN" sz="1600">
              <a:latin typeface="宋体" panose="02010600030101010101" pitchFamily="2" charset="-122"/>
              <a:ea typeface="宋体" panose="02010600030101010101" pitchFamily="2" charset="-122"/>
            </a:endParaRPr>
          </a:p>
        </p:txBody>
      </p:sp>
      <p:sp>
        <p:nvSpPr>
          <p:cNvPr id="17" name="文本框 16"/>
          <p:cNvSpPr txBox="1"/>
          <p:nvPr/>
        </p:nvSpPr>
        <p:spPr>
          <a:xfrm>
            <a:off x="589280" y="1851343"/>
            <a:ext cx="5080000" cy="337185"/>
          </a:xfrm>
          <a:prstGeom prst="rect">
            <a:avLst/>
          </a:prstGeom>
        </p:spPr>
        <p:txBody>
          <a:bodyPr>
            <a:spAutoFit/>
          </a:bodyPr>
          <a:p>
            <a:pPr defTabSz="266700"/>
            <a:r>
              <a:rPr lang="en-US" altLang="zh-CN" sz="1600">
                <a:latin typeface="宋体" panose="02010600030101010101" pitchFamily="2" charset="-122"/>
                <a:ea typeface="宋体" panose="02010600030101010101" pitchFamily="2" charset="-122"/>
              </a:rPr>
              <a:t>1.</a:t>
            </a:r>
            <a:r>
              <a:rPr lang="zh-CN" altLang="en-US" sz="1600">
                <a:latin typeface="宋体" panose="02010600030101010101" pitchFamily="2" charset="-122"/>
                <a:ea typeface="宋体" panose="02010600030101010101" pitchFamily="2" charset="-122"/>
              </a:rPr>
              <a:t>加法调和</a:t>
            </a:r>
            <a:r>
              <a:rPr lang="en-US" altLang="zh-CN" sz="1600">
                <a:latin typeface="Times New Roman" panose="02020603050405020304"/>
                <a:ea typeface="Times New Roman" panose="02020603050405020304"/>
              </a:rPr>
              <a:t> Aᴺᴱˢᵀ = Aˢᵗᵉᵖ + λ·Aᵗᵒᵏᵉⁿ</a:t>
            </a:r>
            <a:endParaRPr lang="en-US" altLang="zh-CN" sz="1600">
              <a:latin typeface="Times New Roman" panose="02020603050405020304"/>
              <a:ea typeface="Times New Roman" panose="02020603050405020304"/>
            </a:endParaRPr>
          </a:p>
        </p:txBody>
      </p:sp>
      <p:pic>
        <p:nvPicPr>
          <p:cNvPr id="11" name="图片 -2147482608"/>
          <p:cNvPicPr>
            <a:picLocks noChangeAspect="1"/>
          </p:cNvPicPr>
          <p:nvPr/>
        </p:nvPicPr>
        <p:blipFill>
          <a:blip r:embed="rId2"/>
          <a:stretch>
            <a:fillRect/>
          </a:stretch>
        </p:blipFill>
        <p:spPr>
          <a:xfrm>
            <a:off x="683578" y="2139950"/>
            <a:ext cx="5390515" cy="290957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方案</a:t>
              </a:r>
              <a:endParaRPr lang="zh-CN" altLang="en-US" sz="1600" b="1" dirty="0">
                <a:cs typeface="+mn-ea"/>
              </a:endParaRPr>
            </a:p>
          </p:txBody>
        </p:sp>
      </p:grpSp>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32" name="文本框 31"/>
          <p:cNvSpPr txBox="1"/>
          <p:nvPr/>
        </p:nvSpPr>
        <p:spPr>
          <a:xfrm>
            <a:off x="323850" y="771525"/>
            <a:ext cx="4326255" cy="337185"/>
          </a:xfrm>
          <a:prstGeom prst="rect">
            <a:avLst/>
          </a:prstGeom>
        </p:spPr>
        <p:txBody>
          <a:bodyPr wrap="square">
            <a:spAutoFit/>
          </a:bodyPr>
          <a:p>
            <a:pPr defTabSz="266700"/>
            <a:r>
              <a:rPr lang="en-US" altLang="zh-CN" sz="1600">
                <a:latin typeface="宋体" panose="02010600030101010101" pitchFamily="2" charset="-122"/>
                <a:ea typeface="宋体" panose="02010600030101010101" pitchFamily="2" charset="-122"/>
              </a:rPr>
              <a:t>2.</a:t>
            </a:r>
            <a:r>
              <a:rPr lang="zh-CN" altLang="en-US" sz="1600">
                <a:latin typeface="宋体" panose="02010600030101010101" pitchFamily="2" charset="-122"/>
                <a:ea typeface="宋体" panose="02010600030101010101" pitchFamily="2" charset="-122"/>
              </a:rPr>
              <a:t>乘法调和</a:t>
            </a:r>
            <a:r>
              <a:rPr lang="en-US" altLang="zh-CN" sz="1600">
                <a:latin typeface="Times New Roman" panose="02020603050405020304"/>
                <a:ea typeface="Times New Roman" panose="02020603050405020304"/>
              </a:rPr>
              <a:t>Aᴺᴱˢᵀ = Aˢᵗᵉᵖ · mᵗᵒᵏᵉ</a:t>
            </a:r>
            <a:r>
              <a:rPr lang="en-US" altLang="zh-CN" sz="1600">
                <a:latin typeface="Times New Roman" panose="02020603050405020304"/>
                <a:ea typeface="微软雅黑" panose="020B0503020204020204" pitchFamily="34" charset="-122"/>
              </a:rPr>
              <a:t>ⁿ</a:t>
            </a:r>
            <a:endParaRPr lang="en-US" altLang="zh-CN" sz="1600">
              <a:latin typeface="Times New Roman" panose="02020603050405020304"/>
              <a:ea typeface="微软雅黑" panose="020B0503020204020204" pitchFamily="34" charset="-122"/>
            </a:endParaRPr>
          </a:p>
        </p:txBody>
      </p:sp>
      <p:pic>
        <p:nvPicPr>
          <p:cNvPr id="11" name="图片 -2147482609"/>
          <p:cNvPicPr>
            <a:picLocks noChangeAspect="1"/>
          </p:cNvPicPr>
          <p:nvPr/>
        </p:nvPicPr>
        <p:blipFill>
          <a:blip r:embed="rId2"/>
          <a:stretch>
            <a:fillRect/>
          </a:stretch>
        </p:blipFill>
        <p:spPr>
          <a:xfrm>
            <a:off x="539750" y="1131570"/>
            <a:ext cx="6297295" cy="333121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方案</a:t>
              </a:r>
              <a:endParaRPr lang="zh-CN" altLang="en-US" sz="1600" b="1" dirty="0">
                <a:cs typeface="+mn-ea"/>
              </a:endParaRPr>
            </a:p>
          </p:txBody>
        </p:sp>
      </p:grpSp>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34" name="文本框 33"/>
          <p:cNvSpPr txBox="1"/>
          <p:nvPr/>
        </p:nvSpPr>
        <p:spPr>
          <a:xfrm>
            <a:off x="251460" y="768350"/>
            <a:ext cx="4326255" cy="337185"/>
          </a:xfrm>
          <a:prstGeom prst="rect">
            <a:avLst/>
          </a:prstGeom>
        </p:spPr>
        <p:txBody>
          <a:bodyPr wrap="square">
            <a:spAutoFit/>
          </a:bodyPr>
          <a:p>
            <a:pPr defTabSz="266700"/>
            <a:r>
              <a:rPr lang="en-US" altLang="zh-CN" sz="1600">
                <a:latin typeface="宋体" panose="02010600030101010101" pitchFamily="2" charset="-122"/>
                <a:ea typeface="宋体" panose="02010600030101010101" pitchFamily="2" charset="-122"/>
              </a:rPr>
              <a:t>3.</a:t>
            </a:r>
            <a:r>
              <a:rPr lang="zh-CN" altLang="en-US" sz="1600">
                <a:latin typeface="宋体" panose="02010600030101010101" pitchFamily="2" charset="-122"/>
                <a:ea typeface="宋体" panose="02010600030101010101" pitchFamily="2" charset="-122"/>
              </a:rPr>
              <a:t>动作隐向量引导的双粒度优势估计</a:t>
            </a:r>
            <a:endParaRPr lang="zh-CN" altLang="en-US" sz="1600">
              <a:latin typeface="宋体" panose="02010600030101010101" pitchFamily="2" charset="-122"/>
              <a:ea typeface="宋体" panose="02010600030101010101" pitchFamily="2" charset="-122"/>
            </a:endParaRPr>
          </a:p>
        </p:txBody>
      </p:sp>
      <p:pic>
        <p:nvPicPr>
          <p:cNvPr id="11" name="图片 -2147482610"/>
          <p:cNvPicPr>
            <a:picLocks noChangeAspect="1"/>
          </p:cNvPicPr>
          <p:nvPr/>
        </p:nvPicPr>
        <p:blipFill>
          <a:blip r:embed="rId2"/>
          <a:stretch>
            <a:fillRect/>
          </a:stretch>
        </p:blipFill>
        <p:spPr>
          <a:xfrm>
            <a:off x="539750" y="1105535"/>
            <a:ext cx="7150100" cy="312610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方案</a:t>
              </a:r>
              <a:endParaRPr lang="zh-CN" altLang="en-US" sz="1600" b="1" dirty="0">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16" name="文本框 15"/>
          <p:cNvSpPr txBox="1"/>
          <p:nvPr/>
        </p:nvSpPr>
        <p:spPr>
          <a:xfrm>
            <a:off x="539750" y="843915"/>
            <a:ext cx="7921625" cy="3224530"/>
          </a:xfrm>
          <a:prstGeom prst="rect">
            <a:avLst/>
          </a:prstGeom>
        </p:spPr>
        <p:txBody>
          <a:bodyPr wrap="square">
            <a:noAutofit/>
          </a:bodyPr>
          <a:p>
            <a:pPr defTabSz="266700"/>
            <a:r>
              <a:rPr lang="zh-CN" altLang="en-US" sz="1600" b="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消融实验</a:t>
            </a:r>
            <a:r>
              <a:rPr lang="zh-CN" altLang="en-US" sz="1600">
                <a:latin typeface="宋体" panose="02010600030101010101" pitchFamily="2" charset="-122"/>
                <a:ea typeface="宋体" panose="02010600030101010101" pitchFamily="2" charset="-122"/>
              </a:rPr>
              <a:t>：</a:t>
            </a:r>
            <a:endParaRPr lang="zh-CN" altLang="en-US" sz="1600">
              <a:latin typeface="宋体" panose="02010600030101010101" pitchFamily="2" charset="-122"/>
              <a:ea typeface="宋体" panose="02010600030101010101" pitchFamily="2" charset="-122"/>
            </a:endParaRPr>
          </a:p>
          <a:p>
            <a:pPr defTabSz="266700"/>
            <a:r>
              <a:rPr lang="zh-CN" altLang="en-US" sz="1600">
                <a:latin typeface="宋体" panose="02010600030101010101" pitchFamily="2" charset="-122"/>
                <a:ea typeface="宋体" panose="02010600030101010101" pitchFamily="2" charset="-122"/>
              </a:rPr>
              <a:t>在已经得到</a:t>
            </a:r>
            <a:r>
              <a:rPr lang="en-US" altLang="zh-CN" sz="1600">
                <a:latin typeface="宋体" panose="02010600030101010101" pitchFamily="2" charset="-122"/>
                <a:ea typeface="宋体" panose="02010600030101010101" pitchFamily="2" charset="-122"/>
              </a:rPr>
              <a:t>NEST</a:t>
            </a:r>
            <a:r>
              <a:rPr lang="zh-CN" altLang="en-US" sz="1600">
                <a:latin typeface="宋体" panose="02010600030101010101" pitchFamily="2" charset="-122"/>
                <a:ea typeface="宋体" panose="02010600030101010101" pitchFamily="2" charset="-122"/>
              </a:rPr>
              <a:t>实现的情况下进行消融实验，即对完整的</a:t>
            </a:r>
            <a:r>
              <a:rPr lang="en-US" altLang="zh-CN" sz="1600">
                <a:latin typeface="宋体" panose="02010600030101010101" pitchFamily="2" charset="-122"/>
                <a:ea typeface="宋体" panose="02010600030101010101" pitchFamily="2" charset="-122"/>
              </a:rPr>
              <a:t>NEST，</a:t>
            </a:r>
            <a:r>
              <a:rPr lang="zh-CN" altLang="en-US" sz="1600">
                <a:latin typeface="宋体" panose="02010600030101010101" pitchFamily="2" charset="-122"/>
                <a:ea typeface="宋体" panose="02010600030101010101" pitchFamily="2" charset="-122"/>
              </a:rPr>
              <a:t>先后失能步骤级别、词元级别的信号，得到消融</a:t>
            </a:r>
            <a:r>
              <a:rPr lang="zh-CN" altLang="en-US" sz="1600">
                <a:latin typeface="宋体" panose="02010600030101010101" pitchFamily="2" charset="-122"/>
                <a:ea typeface="宋体" panose="02010600030101010101" pitchFamily="2" charset="-122"/>
              </a:rPr>
              <a:t>矩阵，对比其与完整</a:t>
            </a:r>
            <a:r>
              <a:rPr lang="en-US" altLang="zh-CN" sz="1600">
                <a:latin typeface="宋体" panose="02010600030101010101" pitchFamily="2" charset="-122"/>
                <a:ea typeface="宋体" panose="02010600030101010101" pitchFamily="2" charset="-122"/>
              </a:rPr>
              <a:t>NEST</a:t>
            </a:r>
            <a:r>
              <a:rPr lang="zh-CN" altLang="en-US" sz="1600">
                <a:latin typeface="宋体" panose="02010600030101010101" pitchFamily="2" charset="-122"/>
                <a:ea typeface="宋体" panose="02010600030101010101" pitchFamily="2" charset="-122"/>
              </a:rPr>
              <a:t>的差距。</a:t>
            </a:r>
            <a:endParaRPr lang="zh-CN" altLang="en-US" sz="1600">
              <a:latin typeface="宋体" panose="02010600030101010101" pitchFamily="2" charset="-122"/>
              <a:ea typeface="宋体" panose="02010600030101010101" pitchFamily="2" charset="-122"/>
            </a:endParaRPr>
          </a:p>
          <a:p>
            <a:pPr defTabSz="266700"/>
            <a:endParaRPr lang="zh-CN" altLang="en-US" sz="1600">
              <a:latin typeface="宋体" panose="02010600030101010101" pitchFamily="2" charset="-122"/>
              <a:ea typeface="宋体" panose="02010600030101010101" pitchFamily="2" charset="-122"/>
            </a:endParaRPr>
          </a:p>
          <a:p>
            <a:pPr defTabSz="266700"/>
            <a:r>
              <a:rPr lang="zh-CN" altLang="en-US" sz="1600" b="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预期结果：</a:t>
            </a:r>
            <a:endParaRPr lang="zh-CN" altLang="en-US" sz="1600" b="1">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defTabSz="266700"/>
            <a:r>
              <a:rPr lang="zh-CN" altLang="en-US" sz="1600" b="1">
                <a:effectLst/>
                <a:latin typeface="宋体" panose="02010600030101010101" pitchFamily="2" charset="-122"/>
                <a:ea typeface="宋体" panose="02010600030101010101" pitchFamily="2" charset="-122"/>
              </a:rPr>
              <a:t>（1）使用</a:t>
            </a:r>
            <a:r>
              <a:rPr lang="en-US" altLang="zh-CN" sz="1600" b="1">
                <a:effectLst/>
                <a:latin typeface="宋体" panose="02010600030101010101" pitchFamily="2" charset="-122"/>
                <a:ea typeface="宋体" panose="02010600030101010101" pitchFamily="2" charset="-122"/>
              </a:rPr>
              <a:t>VeRL</a:t>
            </a:r>
            <a:r>
              <a:rPr lang="zh-CN" altLang="en-US" sz="1600" b="1">
                <a:effectLst/>
                <a:latin typeface="宋体" panose="02010600030101010101" pitchFamily="2" charset="-122"/>
                <a:ea typeface="宋体" panose="02010600030101010101" pitchFamily="2" charset="-122"/>
              </a:rPr>
              <a:t>框架实现一个轻量化的后训练强化学习优势嵌套估计范式（</a:t>
            </a:r>
            <a:r>
              <a:rPr lang="en-US" altLang="zh-CN" sz="1600" b="1">
                <a:effectLst/>
                <a:latin typeface="宋体" panose="02010600030101010101" pitchFamily="2" charset="-122"/>
                <a:ea typeface="宋体" panose="02010600030101010101" pitchFamily="2" charset="-122"/>
              </a:rPr>
              <a:t>NEST）。</a:t>
            </a:r>
            <a:endParaRPr lang="en-US" altLang="zh-CN" sz="1600" b="1">
              <a:effectLst/>
              <a:latin typeface="宋体" panose="02010600030101010101" pitchFamily="2" charset="-122"/>
              <a:ea typeface="宋体" panose="02010600030101010101" pitchFamily="2" charset="-122"/>
            </a:endParaRPr>
          </a:p>
          <a:p>
            <a:pPr defTabSz="266700"/>
            <a:r>
              <a:rPr lang="zh-CN" altLang="en-US" sz="1600" b="1">
                <a:effectLst/>
                <a:latin typeface="宋体" panose="02010600030101010101" pitchFamily="2" charset="-122"/>
                <a:ea typeface="宋体" panose="02010600030101010101" pitchFamily="2" charset="-122"/>
              </a:rPr>
              <a:t>（2）在</a:t>
            </a:r>
            <a:r>
              <a:rPr lang="en-US" altLang="zh-CN" sz="1600" b="1">
                <a:effectLst/>
                <a:latin typeface="宋体" panose="02010600030101010101" pitchFamily="2" charset="-122"/>
                <a:ea typeface="宋体" panose="02010600030101010101" pitchFamily="2" charset="-122"/>
              </a:rPr>
              <a:t>ALFWorld、WebShop</a:t>
            </a:r>
            <a:r>
              <a:rPr lang="zh-CN" altLang="en-US" sz="1600" b="1">
                <a:effectLst/>
                <a:latin typeface="宋体" panose="02010600030101010101" pitchFamily="2" charset="-122"/>
                <a:ea typeface="宋体" panose="02010600030101010101" pitchFamily="2" charset="-122"/>
              </a:rPr>
              <a:t>等</a:t>
            </a:r>
            <a:r>
              <a:rPr lang="en-US" altLang="zh-CN" sz="1600" b="1">
                <a:effectLst/>
                <a:latin typeface="宋体" panose="02010600030101010101" pitchFamily="2" charset="-122"/>
                <a:ea typeface="宋体" panose="02010600030101010101" pitchFamily="2" charset="-122"/>
              </a:rPr>
              <a:t>benchmark</a:t>
            </a:r>
            <a:r>
              <a:rPr lang="zh-CN" altLang="en-US" sz="1600" b="1">
                <a:effectLst/>
                <a:latin typeface="宋体" panose="02010600030101010101" pitchFamily="2" charset="-122"/>
                <a:ea typeface="宋体" panose="02010600030101010101" pitchFamily="2" charset="-122"/>
              </a:rPr>
              <a:t>上，完整</a:t>
            </a:r>
            <a:r>
              <a:rPr lang="en-US" altLang="zh-CN" sz="1600" b="1">
                <a:effectLst/>
                <a:latin typeface="宋体" panose="02010600030101010101" pitchFamily="2" charset="-122"/>
                <a:ea typeface="宋体" panose="02010600030101010101" pitchFamily="2" charset="-122"/>
              </a:rPr>
              <a:t>NEST</a:t>
            </a:r>
            <a:r>
              <a:rPr lang="zh-CN" altLang="en-US" sz="1600" b="1">
                <a:effectLst/>
                <a:latin typeface="宋体" panose="02010600030101010101" pitchFamily="2" charset="-122"/>
                <a:ea typeface="宋体" panose="02010600030101010101" pitchFamily="2" charset="-122"/>
              </a:rPr>
              <a:t>相比最强单一粒度方法成功率平均有3%的提升。</a:t>
            </a:r>
            <a:endParaRPr lang="zh-CN" altLang="en-US" sz="1600" b="1">
              <a:effectLst/>
              <a:latin typeface="宋体" panose="02010600030101010101" pitchFamily="2" charset="-122"/>
              <a:ea typeface="宋体" panose="02010600030101010101" pitchFamily="2" charset="-122"/>
            </a:endParaRPr>
          </a:p>
          <a:p>
            <a:pPr defTabSz="266700"/>
            <a:r>
              <a:rPr lang="zh-CN" altLang="en-US" sz="1600" b="1">
                <a:effectLst/>
                <a:latin typeface="宋体" panose="02010600030101010101" pitchFamily="2" charset="-122"/>
                <a:ea typeface="宋体" panose="02010600030101010101" pitchFamily="2" charset="-122"/>
              </a:rPr>
              <a:t>（3）两个粒度的消融实验，为说明该粒度的优势估计有意义，去掉其中一层的信息后，其成功率平均应降低5%以上。</a:t>
            </a:r>
            <a:endParaRPr lang="zh-CN" altLang="en-US" sz="1600" b="1">
              <a:effectLst/>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进度</a:t>
              </a:r>
              <a:r>
                <a:rPr lang="zh-CN" altLang="en-US" sz="1600" b="1" dirty="0">
                  <a:cs typeface="+mn-ea"/>
                </a:rPr>
                <a:t>安排</a:t>
              </a:r>
              <a:endParaRPr lang="zh-CN" altLang="en-US" sz="1600" b="1" dirty="0">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16" name="文本框 15"/>
          <p:cNvSpPr txBox="1"/>
          <p:nvPr/>
        </p:nvSpPr>
        <p:spPr>
          <a:xfrm>
            <a:off x="539750" y="843915"/>
            <a:ext cx="7423785" cy="2061210"/>
          </a:xfrm>
          <a:prstGeom prst="rect">
            <a:avLst/>
          </a:prstGeom>
        </p:spPr>
        <p:txBody>
          <a:bodyPr wrap="square">
            <a:spAutoFit/>
          </a:bodyPr>
          <a:p>
            <a:pPr defTabSz="266700"/>
            <a:r>
              <a:rPr lang="zh-CN" altLang="en-US" sz="1600" b="1">
                <a:effectLst/>
                <a:latin typeface="宋体" panose="02010600030101010101" pitchFamily="2" charset="-122"/>
                <a:ea typeface="宋体" panose="02010600030101010101" pitchFamily="2" charset="-122"/>
              </a:rPr>
              <a:t>2026年9月~2026年10月：阅读相关文献，了解现有的信用分配算法，完成开题报告。</a:t>
            </a:r>
            <a:endParaRPr lang="zh-CN" altLang="en-US" sz="1600" b="1">
              <a:effectLst/>
              <a:latin typeface="宋体" panose="02010600030101010101" pitchFamily="2" charset="-122"/>
              <a:ea typeface="宋体" panose="02010600030101010101" pitchFamily="2" charset="-122"/>
            </a:endParaRPr>
          </a:p>
          <a:p>
            <a:pPr defTabSz="266700"/>
            <a:endParaRPr lang="zh-CN" altLang="en-US" sz="1600" b="1">
              <a:effectLst/>
              <a:latin typeface="宋体" panose="02010600030101010101" pitchFamily="2" charset="-122"/>
              <a:ea typeface="宋体" panose="02010600030101010101" pitchFamily="2" charset="-122"/>
            </a:endParaRPr>
          </a:p>
          <a:p>
            <a:pPr defTabSz="266700"/>
            <a:r>
              <a:rPr lang="zh-CN" altLang="en-US" sz="1600" b="1">
                <a:effectLst/>
                <a:latin typeface="宋体" panose="02010600030101010101" pitchFamily="2" charset="-122"/>
                <a:ea typeface="宋体" panose="02010600030101010101" pitchFamily="2" charset="-122"/>
              </a:rPr>
              <a:t>2026年11月~2027年2月：复现现有的信用分配算法并完成嵌套思想的最小可行性验证，跑通</a:t>
            </a:r>
            <a:r>
              <a:rPr lang="en-US" altLang="zh-CN" sz="1600" b="1">
                <a:effectLst/>
                <a:latin typeface="宋体" panose="02010600030101010101" pitchFamily="2" charset="-122"/>
                <a:ea typeface="宋体" panose="02010600030101010101" pitchFamily="2" charset="-122"/>
              </a:rPr>
              <a:t>pipeline。</a:t>
            </a:r>
            <a:endParaRPr lang="en-US" altLang="zh-CN" sz="1600" b="1">
              <a:effectLst/>
              <a:latin typeface="宋体" panose="02010600030101010101" pitchFamily="2" charset="-122"/>
              <a:ea typeface="宋体" panose="02010600030101010101" pitchFamily="2" charset="-122"/>
            </a:endParaRPr>
          </a:p>
          <a:p>
            <a:pPr defTabSz="266700"/>
            <a:endParaRPr lang="en-US" altLang="zh-CN" sz="1600" b="1">
              <a:effectLst/>
              <a:latin typeface="宋体" panose="02010600030101010101" pitchFamily="2" charset="-122"/>
              <a:ea typeface="宋体" panose="02010600030101010101" pitchFamily="2" charset="-122"/>
            </a:endParaRPr>
          </a:p>
          <a:p>
            <a:pPr defTabSz="266700"/>
            <a:r>
              <a:rPr lang="zh-CN" altLang="en-US" sz="1600" b="1">
                <a:effectLst/>
                <a:latin typeface="宋体" panose="02010600030101010101" pitchFamily="2" charset="-122"/>
                <a:ea typeface="宋体" panose="02010600030101010101" pitchFamily="2" charset="-122"/>
              </a:rPr>
              <a:t>2027年3月~2027年5月：最终实现嵌套优势估计，对多种算法以及嵌套方式进行对比分析，并撰写毕业论文。</a:t>
            </a:r>
            <a:endParaRPr lang="zh-CN" altLang="en-US" sz="1600" b="1">
              <a:effectLst/>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3508" y="123478"/>
            <a:ext cx="8856984" cy="4896544"/>
          </a:xfrm>
          <a:prstGeom prst="rect">
            <a:avLst/>
          </a:prstGeom>
          <a:no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3" name="矩形 2"/>
          <p:cNvSpPr/>
          <p:nvPr/>
        </p:nvSpPr>
        <p:spPr>
          <a:xfrm>
            <a:off x="2447925" y="1275715"/>
            <a:ext cx="4248785" cy="6940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5" name="文本框 4"/>
          <p:cNvSpPr txBox="1"/>
          <p:nvPr/>
        </p:nvSpPr>
        <p:spPr>
          <a:xfrm>
            <a:off x="3433517" y="2932044"/>
            <a:ext cx="2016224" cy="306705"/>
          </a:xfrm>
          <a:prstGeom prst="rect">
            <a:avLst/>
          </a:prstGeom>
          <a:noFill/>
        </p:spPr>
        <p:txBody>
          <a:bodyPr wrap="square" rtlCol="0">
            <a:spAutoFit/>
          </a:bodyPr>
          <a:lstStyle/>
          <a:p>
            <a:pPr algn="ctr"/>
            <a:r>
              <a:rPr lang="zh-CN" altLang="en-US" sz="1400" b="1" dirty="0">
                <a:cs typeface="+mn-ea"/>
              </a:rPr>
              <a:t>答辩人：詹咏庭</a:t>
            </a:r>
            <a:endParaRPr lang="zh-CN" altLang="en-US" sz="1400" b="1" dirty="0">
              <a:cs typeface="+mn-ea"/>
            </a:endParaRPr>
          </a:p>
        </p:txBody>
      </p:sp>
      <p:sp>
        <p:nvSpPr>
          <p:cNvPr id="7" name="文本框 6"/>
          <p:cNvSpPr txBox="1"/>
          <p:nvPr/>
        </p:nvSpPr>
        <p:spPr>
          <a:xfrm>
            <a:off x="2519772" y="1275661"/>
            <a:ext cx="4104456" cy="1014730"/>
          </a:xfrm>
          <a:prstGeom prst="rect">
            <a:avLst/>
          </a:prstGeom>
          <a:noFill/>
        </p:spPr>
        <p:txBody>
          <a:bodyPr wrap="square" rtlCol="0">
            <a:spAutoFit/>
          </a:bodyPr>
          <a:lstStyle/>
          <a:p>
            <a:pPr algn="ctr"/>
            <a:r>
              <a:rPr lang="zh-CN" altLang="en-US" sz="2000">
                <a:solidFill>
                  <a:schemeClr val="bg1"/>
                </a:solidFill>
                <a:cs typeface="+mn-ea"/>
                <a:sym typeface="+mn-ea"/>
              </a:rPr>
              <a:t>多轮大语言模型智能体中</a:t>
            </a:r>
            <a:endParaRPr lang="zh-CN" altLang="en-US" sz="2000">
              <a:solidFill>
                <a:schemeClr val="bg1"/>
              </a:solidFill>
              <a:cs typeface="+mn-ea"/>
            </a:endParaRPr>
          </a:p>
          <a:p>
            <a:pPr algn="ctr"/>
            <a:r>
              <a:rPr lang="zh-CN" altLang="en-US" sz="2000">
                <a:solidFill>
                  <a:schemeClr val="bg1"/>
                </a:solidFill>
                <a:cs typeface="+mn-ea"/>
                <a:sym typeface="+mn-ea"/>
              </a:rPr>
              <a:t>步骤-词元级优势的嵌套估计 </a:t>
            </a:r>
            <a:endParaRPr lang="zh-CN" altLang="en-US" sz="2000">
              <a:solidFill>
                <a:schemeClr val="bg1"/>
              </a:solidFill>
              <a:cs typeface="+mn-ea"/>
            </a:endParaRPr>
          </a:p>
          <a:p>
            <a:pPr algn="ctr"/>
            <a:endParaRPr lang="zh-CN" altLang="en-US" sz="2000" dirty="0">
              <a:solidFill>
                <a:schemeClr val="bg1"/>
              </a:solidFill>
              <a:latin typeface="宋体" panose="02010600030101010101" pitchFamily="2" charset="-122"/>
              <a:cs typeface="+mn-ea"/>
            </a:endParaRPr>
          </a:p>
        </p:txBody>
      </p:sp>
      <p:grpSp>
        <p:nvGrpSpPr>
          <p:cNvPr id="18" name="组合 17"/>
          <p:cNvGrpSpPr/>
          <p:nvPr/>
        </p:nvGrpSpPr>
        <p:grpSpPr>
          <a:xfrm>
            <a:off x="1435008" y="577820"/>
            <a:ext cx="6529425" cy="3217045"/>
            <a:chOff x="1435008" y="577820"/>
            <a:chExt cx="6529425" cy="3217045"/>
          </a:xfrm>
        </p:grpSpPr>
        <p:sp>
          <p:nvSpPr>
            <p:cNvPr id="8" name="矩形 7"/>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9" name="矩形 8"/>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11" name="矩形 10"/>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cxnSp>
          <p:nvCxnSpPr>
            <p:cNvPr id="13" name="直接连接符 12"/>
            <p:cNvCxnSpPr/>
            <p:nvPr/>
          </p:nvCxnSpPr>
          <p:spPr>
            <a:xfrm flipH="1">
              <a:off x="7015627" y="577820"/>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1435008" y="2975534"/>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2404324" y="2067372"/>
            <a:ext cx="4279832" cy="769441"/>
          </a:xfrm>
          <a:prstGeom prst="rect">
            <a:avLst/>
          </a:prstGeom>
          <a:noFill/>
        </p:spPr>
        <p:txBody>
          <a:bodyPr wrap="square" rtlCol="0">
            <a:spAutoFit/>
          </a:bodyPr>
          <a:lstStyle/>
          <a:p>
            <a:pPr algn="ctr"/>
            <a:r>
              <a:rPr lang="zh-CN" altLang="en-US" sz="4400" b="1" dirty="0">
                <a:cs typeface="+mn-ea"/>
              </a:rPr>
              <a:t>感谢观看</a:t>
            </a:r>
            <a:endParaRPr lang="zh-CN" altLang="en-US" sz="4400" b="1" dirty="0">
              <a:cs typeface="+mn-ea"/>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p:bldP spid="7" grpId="0"/>
      <p:bldP spid="4" grpId="0"/>
    </p:bldLst>
  </p:timing>
</p:sld>
</file>

<file path=ppt/tags/tag1.xml><?xml version="1.0" encoding="utf-8"?>
<p:tagLst xmlns:p="http://schemas.openxmlformats.org/presentationml/2006/main">
  <p:tag name="ISPRING_PRESENTATION_TITLE" val="简洁2018运营总结报告ppt模板"/>
  <p:tag name="ISPRING_FIRST_PUBLISH"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zc1lhhoj">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1570</Words>
  <Application>WPS 演示</Application>
  <PresentationFormat>全屏显示(16:9)</PresentationFormat>
  <Paragraphs>115</Paragraphs>
  <Slides>14</Slides>
  <Notes>21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14</vt:i4>
      </vt:variant>
    </vt:vector>
  </HeadingPairs>
  <TitlesOfParts>
    <vt:vector size="31" baseType="lpstr">
      <vt:lpstr>Arial</vt:lpstr>
      <vt:lpstr>宋体</vt:lpstr>
      <vt:lpstr>Wingdings</vt:lpstr>
      <vt:lpstr>Montserrat Light</vt:lpstr>
      <vt:lpstr>Segoe Print</vt:lpstr>
      <vt:lpstr>Century Gothic</vt:lpstr>
      <vt:lpstr>Cambria Math</vt:lpstr>
      <vt:lpstr>Times New Roman</vt:lpstr>
      <vt:lpstr>微软雅黑</vt:lpstr>
      <vt:lpstr>Arial Unicode MS</vt:lpstr>
      <vt:lpstr>Calibri</vt:lpstr>
      <vt:lpstr>KSOF90260C50</vt:lpstr>
      <vt:lpstr>KSOF902680AF</vt:lpstr>
      <vt:lpstr>Montserrat Light</vt:lpstr>
      <vt:lpstr>Times New Roman</vt:lpstr>
      <vt:lpstr>Windsor Std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简洁2018运营总结报告ppt模板</dc:title>
  <dc:creator>gkl</dc:creator>
  <cp:lastModifiedBy>ZzZytT</cp:lastModifiedBy>
  <cp:revision>104</cp:revision>
  <dcterms:created xsi:type="dcterms:W3CDTF">2018-11-28T05:41:00Z</dcterms:created>
  <dcterms:modified xsi:type="dcterms:W3CDTF">2026-10-09T18:13:10Z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789AB73BD2C14087820186DE750295C4_12</vt:lpwstr>
  </property>
</Properties>
</file>